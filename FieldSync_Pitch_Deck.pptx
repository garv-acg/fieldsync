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1925"/>
  </p:normalViewPr>
  <p:slideViewPr>
    <p:cSldViewPr snapToGrid="0" snapToObjects="1">
      <p:cViewPr varScale="1">
        <p:scale>
          <a:sx n="112" d="100"/>
          <a:sy n="112" d="100"/>
        </p:scale>
        <p:origin x="7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8953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and introduce FieldSync. Emphasize that this is a purpose-built tool for our specific league — not a generic scheduling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pain point. Ask the room which ones resonate most. These are the problems FieldSync was built to 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FieldSync covers umpires, field crew, and concessions staff across two locations. One login for managers, another for workers — each sees exactly what they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manager workflow step by step. Emphasize how little manual work remains — FieldSync does the heavy lifting.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Workers log in on their phones — the UI is designed for mobile first. They can check shifts, subscribe to their calendar, and never miss a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core capabilities — all purpose-built for youth league field management. Highlight the calendar subscription and auto-scheduling as the biggest time-savers.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FieldSync was built for exactly this use case. Generic apps either can't do what we need, or charge monthly fees for inferior functionality.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action items. FieldSync is already built and ready to use — this is about getting buy-in to roll it out to all workers this season.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1B3A1C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1005840" cy="1005840"/>
          </a:xfrm>
          <a:prstGeom prst="ellipse">
            <a:avLst/>
          </a:prstGeom>
          <a:solidFill>
            <a:srgbClr val="8DC63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58368"/>
            <a:ext cx="694944" cy="694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9164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FieldSync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457200" y="278892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8D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Scheduling.</a:t>
            </a:r>
            <a:endParaRPr lang="en-US" sz="2200" dirty="0"/>
          </a:p>
          <a:p>
            <a:pPr marL="0" indent="0" algn="l">
              <a:buNone/>
            </a:pPr>
            <a:r>
              <a:rPr lang="en-US" sz="2200" i="1" dirty="0">
                <a:solidFill>
                  <a:srgbClr val="8D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Game Days.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57200" y="3840480"/>
            <a:ext cx="3657600" cy="22860"/>
          </a:xfrm>
          <a:prstGeom prst="rect">
            <a:avLst/>
          </a:prstGeom>
          <a:solidFill>
            <a:srgbClr val="5A8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3977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9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Baseball &amp; Softball Workforce Management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852160" y="100584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2C5F2D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852160" y="105156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8DC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5852160" y="15727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852160" y="228600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2C5F2D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852160" y="233172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8DC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5852160" y="28529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Roles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852160" y="356616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2C5F2D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852160" y="361188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8DC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800" dirty="0"/>
          </a:p>
        </p:txBody>
      </p:sp>
      <p:sp>
        <p:nvSpPr>
          <p:cNvPr id="18" name="Text 15"/>
          <p:cNvSpPr/>
          <p:nvPr/>
        </p:nvSpPr>
        <p:spPr>
          <a:xfrm>
            <a:off x="5852160" y="41330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Mobile-Ready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5A8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THE CHALLENGE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2E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Are We Managing Today?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8404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874520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6642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 Chaos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34440" y="20116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schedules, worker availability, and assignments spread across multiple files — no single source of truth.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554480"/>
            <a:ext cx="38404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874520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680" y="16642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Text Overload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440680" y="20116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Last-minute changes, rainouts, and shift reminders buried in group chats. Workers miss updates.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3063240"/>
            <a:ext cx="38404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383280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31729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Scheduling Hours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234440" y="35204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spend hours each week cross-referencing availability, seniority, and conflicts by hand.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663440" y="3063240"/>
            <a:ext cx="38404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3383280"/>
            <a:ext cx="438912" cy="4389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40680" y="31729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Worker Visibility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440680" y="35204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have no way to see their upcoming shifts, request time off, or check the game schedule on their own.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5A8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Platform.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Managed.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029968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FieldSync is a custom-built web application that gives league managers complete control of the game schedule and workforce — while giving workers a clear, mobile-friendly view of their shifts.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D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specifically for Spring Creek and Mission Viejo — not a generic app adapted for our needs.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120640" y="960120"/>
            <a:ext cx="3566160" cy="1005840"/>
          </a:xfrm>
          <a:prstGeom prst="roundRect">
            <a:avLst>
              <a:gd name="adj" fmla="val 12727"/>
            </a:avLst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321808" y="1161288"/>
            <a:ext cx="566928" cy="566928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053328" y="10515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Umpires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53328" y="1417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officials, dual-ump divisions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20640" y="2194560"/>
            <a:ext cx="3566160" cy="1005840"/>
          </a:xfrm>
          <a:prstGeom prst="roundRect">
            <a:avLst>
              <a:gd name="adj" fmla="val 12727"/>
            </a:avLst>
          </a:prstGeom>
          <a:solidFill>
            <a:srgbClr val="0478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321808" y="2395728"/>
            <a:ext cx="566928" cy="566928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53328" y="22860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Crew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53328" y="2651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Setup, dragger, maintenance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20640" y="3429000"/>
            <a:ext cx="3566160" cy="1005840"/>
          </a:xfrm>
          <a:prstGeom prst="roundRect">
            <a:avLst>
              <a:gd name="adj" fmla="val 12727"/>
            </a:avLst>
          </a:prstGeom>
          <a:solidFill>
            <a:srgbClr val="B4530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321808" y="3630168"/>
            <a:ext cx="566928" cy="566928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53328" y="3520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Concessions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53328" y="3886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 shack at Mission Viejo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120640" y="4617720"/>
            <a:ext cx="1691640" cy="320040"/>
          </a:xfrm>
          <a:prstGeom prst="roundRect">
            <a:avLst>
              <a:gd name="adj" fmla="val 22857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20640" y="4617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📍 Spring Creek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49440" y="4617720"/>
            <a:ext cx="1737360" cy="320040"/>
          </a:xfrm>
          <a:prstGeom prst="roundRect">
            <a:avLst>
              <a:gd name="adj" fmla="val 22857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49440" y="4617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📍 Mission Viejo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FOR MANAGERS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2E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Control in One View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78408" y="137160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78408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828800" y="1691640"/>
            <a:ext cx="530352" cy="0"/>
          </a:xfrm>
          <a:prstGeom prst="line">
            <a:avLst/>
          </a:prstGeom>
          <a:noFill/>
          <a:ln w="19050">
            <a:solidFill>
              <a:srgbClr val="8A9E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84048" y="2212848"/>
            <a:ext cx="1920240" cy="24688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" y="234086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Schedule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2064" y="2871216"/>
            <a:ext cx="16642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CSV of games — location, field, division, date, time, teams. FieldSync handles the parsing.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27248" y="137160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27248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977640" y="1691640"/>
            <a:ext cx="530352" cy="0"/>
          </a:xfrm>
          <a:prstGeom prst="line">
            <a:avLst/>
          </a:prstGeom>
          <a:noFill/>
          <a:ln w="19050">
            <a:solidFill>
              <a:srgbClr val="8A9E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32888" y="2212848"/>
            <a:ext cx="1920240" cy="24688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24328" y="234086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Auto-Schedule Crew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60904" y="2871216"/>
            <a:ext cx="16642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assigns umpires and crew by seniority and availability. Conflict detection flags any double-bookings instantly.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76088" y="137160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76088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126480" y="1691640"/>
            <a:ext cx="530352" cy="0"/>
          </a:xfrm>
          <a:prstGeom prst="line">
            <a:avLst/>
          </a:prstGeom>
          <a:noFill/>
          <a:ln w="19050">
            <a:solidFill>
              <a:srgbClr val="8A9E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81728" y="2212848"/>
            <a:ext cx="1920240" cy="24688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73168" y="234086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Week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9744" y="2871216"/>
            <a:ext cx="16642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only see their shifts after you publish. Unpublished changes stay hidden until you're ready.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24928" y="137160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424928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830568" y="2212848"/>
            <a:ext cx="1920240" cy="24688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922008" y="234086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Game-Day Changes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58584" y="2871216"/>
            <a:ext cx="16642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games, call rainouts, or reschedule — workers get notified and their calendars update automatically.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FOR WORKERS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Workers Need,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on Their Phone.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901952"/>
            <a:ext cx="2240280" cy="1298448"/>
          </a:xfrm>
          <a:prstGeom prst="roundRect">
            <a:avLst>
              <a:gd name="adj" fmla="val 8451"/>
            </a:avLst>
          </a:prstGeom>
          <a:solidFill>
            <a:srgbClr val="2C5F2D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12648" y="2249424"/>
            <a:ext cx="475488" cy="475488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295144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07008" y="199339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Design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07008" y="2404872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Tap-friendly layout works on any phone. No app download required.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907792" y="1901952"/>
            <a:ext cx="2240280" cy="1298448"/>
          </a:xfrm>
          <a:prstGeom prst="roundRect">
            <a:avLst>
              <a:gd name="adj" fmla="val 8451"/>
            </a:avLst>
          </a:prstGeom>
          <a:solidFill>
            <a:srgbClr val="2C5F2D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063240" y="2249424"/>
            <a:ext cx="475488" cy="475488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2295144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7600" y="199339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Calendar Sync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657600" y="2404872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once — shifts appear in Google, Apple, or Outlook and update automatically when the schedule changes.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" y="3383280"/>
            <a:ext cx="2240280" cy="1298448"/>
          </a:xfrm>
          <a:prstGeom prst="roundRect">
            <a:avLst>
              <a:gd name="adj" fmla="val 8451"/>
            </a:avLst>
          </a:prstGeom>
          <a:solidFill>
            <a:srgbClr val="2C5F2D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12648" y="3730752"/>
            <a:ext cx="475488" cy="475488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776472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07008" y="34747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Notifications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207008" y="3886200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Rainouts, shift changes, and approvals sent in real time.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2907792" y="3383280"/>
            <a:ext cx="2240280" cy="1298448"/>
          </a:xfrm>
          <a:prstGeom prst="roundRect">
            <a:avLst>
              <a:gd name="adj" fmla="val 8451"/>
            </a:avLst>
          </a:prstGeom>
          <a:solidFill>
            <a:srgbClr val="2C5F2D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3063240" y="3730752"/>
            <a:ext cx="475488" cy="475488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8960" y="3776472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657600" y="34747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&amp; Requests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3657600" y="3886200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availability by role. Submit time-off requests directly in the app.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532120" y="1005840"/>
            <a:ext cx="2377440" cy="3794760"/>
          </a:xfrm>
          <a:prstGeom prst="roundRect">
            <a:avLst>
              <a:gd name="adj" fmla="val 10769"/>
            </a:avLst>
          </a:prstGeom>
          <a:solidFill>
            <a:srgbClr val="2C5F2D">
              <a:alpha val="80000"/>
            </a:srgbClr>
          </a:solidFill>
          <a:ln/>
          <a:effectLst>
            <a:outerShdw blurRad="2032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5715000" y="1298448"/>
            <a:ext cx="2011680" cy="3200400"/>
          </a:xfrm>
          <a:prstGeom prst="roundRect">
            <a:avLst>
              <a:gd name="adj" fmla="val 6364"/>
            </a:avLst>
          </a:prstGeom>
          <a:solidFill>
            <a:srgbClr val="1B3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5715000" y="14264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D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FieldSync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5806440" y="1737360"/>
            <a:ext cx="1828800" cy="2286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5779008" y="181051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D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Shift: Sat Jun 28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5779008" y="210312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Spring Creek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5779008" y="2395728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Arrive 4:00 PM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5779008" y="2980944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D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This Week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5779008" y="327355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— Spring Creek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5779008" y="356616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— Mission Viejo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6574536" y="4343400"/>
            <a:ext cx="292608" cy="292608"/>
          </a:xfrm>
          <a:prstGeom prst="ellipse">
            <a:avLst/>
          </a:prstGeom>
          <a:solidFill>
            <a:srgbClr val="8A9E88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FEATURES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E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FieldSync Delivers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84048" y="1298448"/>
            <a:ext cx="2633472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85216" y="1609344"/>
            <a:ext cx="512064" cy="512064"/>
          </a:xfrm>
          <a:prstGeom prst="ellipse">
            <a:avLst/>
          </a:prstGeom>
          <a:solidFill>
            <a:srgbClr val="2C5F2D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1655064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43584" y="1426464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Auto-Scheduling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43584" y="1847088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crew by seniority + fewest shifts. One click covers an entire week.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36976" y="1298448"/>
            <a:ext cx="2633472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438144" y="1609344"/>
            <a:ext cx="512064" cy="512064"/>
          </a:xfrm>
          <a:prstGeom prst="ellipse">
            <a:avLst/>
          </a:prstGeom>
          <a:solidFill>
            <a:srgbClr val="1D4ED8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3864" y="1655064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96512" y="1426464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Detection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096512" y="1847088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flags double-bookings for umpires or crew across both locations.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89904" y="1298448"/>
            <a:ext cx="2633472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291072" y="1609344"/>
            <a:ext cx="512064" cy="512064"/>
          </a:xfrm>
          <a:prstGeom prst="ellipse">
            <a:avLst/>
          </a:prstGeom>
          <a:solidFill>
            <a:srgbClr val="B45309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1655064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49440" y="1426464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Import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949440" y="1847088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game schedule CSV — FieldSync parses and loads every game automatically.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84048" y="3017520"/>
            <a:ext cx="2633472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585216" y="3328416"/>
            <a:ext cx="512064" cy="512064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" y="3374136"/>
            <a:ext cx="420624" cy="4206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43584" y="3145536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Calendar Subscription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243584" y="3566160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subscribe once. Updates push automatically when the manager publishes changes.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236976" y="3017520"/>
            <a:ext cx="2633472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3438144" y="3328416"/>
            <a:ext cx="512064" cy="512064"/>
          </a:xfrm>
          <a:prstGeom prst="ellipse">
            <a:avLst/>
          </a:prstGeom>
          <a:solidFill>
            <a:srgbClr val="DC2626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3374136"/>
            <a:ext cx="420624" cy="42062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096512" y="3145536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Multi-Location Support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096512" y="3566160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Creek and Mission Viejo managed separately with location-specific rules.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089904" y="3017520"/>
            <a:ext cx="2633472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6291072" y="3328416"/>
            <a:ext cx="512064" cy="512064"/>
          </a:xfrm>
          <a:prstGeom prst="ellipse">
            <a:avLst/>
          </a:prstGeom>
          <a:solidFill>
            <a:srgbClr val="D97706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6792" y="3374136"/>
            <a:ext cx="420624" cy="42062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949440" y="3145536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Rate Tracking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949440" y="3566160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per-worker pay rates for easy payroll reporting. Export to CSV anytime.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5A8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COMPARISON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Just Use a Generic App?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84048" y="1389888"/>
            <a:ext cx="3017520" cy="402336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138988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38144" y="1389888"/>
            <a:ext cx="2103120" cy="402336"/>
          </a:xfrm>
          <a:prstGeom prst="rect">
            <a:avLst/>
          </a:prstGeom>
          <a:solidFill>
            <a:srgbClr val="4B3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38144" y="138988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App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77840" y="1389888"/>
            <a:ext cx="2103120" cy="402336"/>
          </a:xfrm>
          <a:prstGeom prst="rect">
            <a:avLst/>
          </a:prstGeom>
          <a:solidFill>
            <a:srgbClr val="5A8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577840" y="138988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FieldSync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" y="1847088"/>
            <a:ext cx="3017520" cy="384048"/>
          </a:xfrm>
          <a:prstGeom prst="rect">
            <a:avLst/>
          </a:prstGeom>
          <a:solidFill>
            <a:srgbClr val="1B3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847088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scheduling (umpire / field / concessions)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38144" y="1847088"/>
            <a:ext cx="2103120" cy="384048"/>
          </a:xfrm>
          <a:prstGeom prst="rect">
            <a:avLst/>
          </a:prstGeom>
          <a:solidFill>
            <a:srgbClr val="1B3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11296" y="1847088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Generic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77840" y="1847088"/>
            <a:ext cx="2103120" cy="384048"/>
          </a:xfrm>
          <a:prstGeom prst="rect">
            <a:avLst/>
          </a:prstGeom>
          <a:solidFill>
            <a:srgbClr val="1B3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50992" y="1847088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D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Built-in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" y="2231136"/>
            <a:ext cx="3017520" cy="384048"/>
          </a:xfrm>
          <a:prstGeom prst="rect">
            <a:avLst/>
          </a:prstGeom>
          <a:solidFill>
            <a:srgbClr val="162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231136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 shack logic per location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38144" y="2231136"/>
            <a:ext cx="2103120" cy="384048"/>
          </a:xfrm>
          <a:prstGeom prst="rect">
            <a:avLst/>
          </a:prstGeom>
          <a:solidFill>
            <a:srgbClr val="162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511296" y="2231136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Not possible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77840" y="2231136"/>
            <a:ext cx="2103120" cy="384048"/>
          </a:xfrm>
          <a:prstGeom prst="rect">
            <a:avLst/>
          </a:prstGeom>
          <a:solidFill>
            <a:srgbClr val="162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50992" y="2231136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D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Automatic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84048" y="2615184"/>
            <a:ext cx="3017520" cy="384048"/>
          </a:xfrm>
          <a:prstGeom prst="rect">
            <a:avLst/>
          </a:prstGeom>
          <a:solidFill>
            <a:srgbClr val="1B3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2615184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Dragger assignment + early arrival times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38144" y="2615184"/>
            <a:ext cx="2103120" cy="384048"/>
          </a:xfrm>
          <a:prstGeom prst="rect">
            <a:avLst/>
          </a:prstGeom>
          <a:solidFill>
            <a:srgbClr val="1B3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511296" y="2615184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Not possible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577840" y="2615184"/>
            <a:ext cx="2103120" cy="384048"/>
          </a:xfrm>
          <a:prstGeom prst="rect">
            <a:avLst/>
          </a:prstGeom>
          <a:solidFill>
            <a:srgbClr val="1B3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650992" y="2615184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D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Supported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84048" y="2999232"/>
            <a:ext cx="3017520" cy="384048"/>
          </a:xfrm>
          <a:prstGeom prst="rect">
            <a:avLst/>
          </a:prstGeom>
          <a:solidFill>
            <a:srgbClr val="162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2999232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Auto-schedule by seniority &amp; load balancing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38144" y="2999232"/>
            <a:ext cx="2103120" cy="384048"/>
          </a:xfrm>
          <a:prstGeom prst="rect">
            <a:avLst/>
          </a:prstGeom>
          <a:solidFill>
            <a:srgbClr val="162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511296" y="2999232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Manual or extra cost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577840" y="2999232"/>
            <a:ext cx="2103120" cy="384048"/>
          </a:xfrm>
          <a:prstGeom prst="rect">
            <a:avLst/>
          </a:prstGeom>
          <a:solidFill>
            <a:srgbClr val="162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650992" y="2999232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D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One click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84048" y="3383280"/>
            <a:ext cx="3017520" cy="384048"/>
          </a:xfrm>
          <a:prstGeom prst="rect">
            <a:avLst/>
          </a:prstGeom>
          <a:solidFill>
            <a:srgbClr val="1B3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3383280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subscription with auto-refresh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438144" y="3383280"/>
            <a:ext cx="2103120" cy="384048"/>
          </a:xfrm>
          <a:prstGeom prst="rect">
            <a:avLst/>
          </a:prstGeom>
          <a:solidFill>
            <a:srgbClr val="1B3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511296" y="3383280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Partial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577840" y="3383280"/>
            <a:ext cx="2103120" cy="384048"/>
          </a:xfrm>
          <a:prstGeom prst="rect">
            <a:avLst/>
          </a:prstGeom>
          <a:solidFill>
            <a:srgbClr val="1B3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650992" y="3383280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D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84048" y="3767328"/>
            <a:ext cx="3017520" cy="384048"/>
          </a:xfrm>
          <a:prstGeom prst="rect">
            <a:avLst/>
          </a:prstGeom>
          <a:solidFill>
            <a:srgbClr val="162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57200" y="3767328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Per-worker pay rate tracking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38144" y="3767328"/>
            <a:ext cx="2103120" cy="384048"/>
          </a:xfrm>
          <a:prstGeom prst="rect">
            <a:avLst/>
          </a:prstGeom>
          <a:solidFill>
            <a:srgbClr val="162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511296" y="3767328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💲 Paid tier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577840" y="3767328"/>
            <a:ext cx="2103120" cy="384048"/>
          </a:xfrm>
          <a:prstGeom prst="rect">
            <a:avLst/>
          </a:prstGeom>
          <a:solidFill>
            <a:srgbClr val="162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650992" y="3767328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D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Free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84048" y="4151376"/>
            <a:ext cx="3017520" cy="384048"/>
          </a:xfrm>
          <a:prstGeom prst="rect">
            <a:avLst/>
          </a:prstGeom>
          <a:solidFill>
            <a:srgbClr val="1B3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57200" y="4151376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division rules (dual-ump, etc.)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438144" y="4151376"/>
            <a:ext cx="2103120" cy="384048"/>
          </a:xfrm>
          <a:prstGeom prst="rect">
            <a:avLst/>
          </a:prstGeom>
          <a:solidFill>
            <a:srgbClr val="1B3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511296" y="4151376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Not possible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577840" y="4151376"/>
            <a:ext cx="2103120" cy="384048"/>
          </a:xfrm>
          <a:prstGeom prst="rect">
            <a:avLst/>
          </a:prstGeom>
          <a:solidFill>
            <a:srgbClr val="1B3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650992" y="4151376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D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Configured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84048" y="4535424"/>
            <a:ext cx="3017520" cy="384048"/>
          </a:xfrm>
          <a:prstGeom prst="rect">
            <a:avLst/>
          </a:prstGeom>
          <a:solidFill>
            <a:srgbClr val="162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57200" y="4535424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recurring cost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438144" y="4535424"/>
            <a:ext cx="2103120" cy="384048"/>
          </a:xfrm>
          <a:prstGeom prst="rect">
            <a:avLst/>
          </a:prstGeom>
          <a:solidFill>
            <a:srgbClr val="162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511296" y="4535424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💲 $30–$150/mo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577840" y="4535424"/>
            <a:ext cx="2103120" cy="384048"/>
          </a:xfrm>
          <a:prstGeom prst="rect">
            <a:avLst/>
          </a:prstGeom>
          <a:solidFill>
            <a:srgbClr val="162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650992" y="4535424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D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$0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1C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"/>
            <a:ext cx="749808" cy="7498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1148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Get Started?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457200" y="1481328"/>
            <a:ext cx="530352" cy="530352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14813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70432" y="1426464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as manager at the FieldSync URL — credentials provided separately.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67512" y="2029968"/>
            <a:ext cx="0" cy="201168"/>
          </a:xfrm>
          <a:prstGeom prst="line">
            <a:avLst/>
          </a:prstGeom>
          <a:noFill/>
          <a:ln w="19050">
            <a:solidFill>
              <a:srgbClr val="8DC63F"/>
            </a:solidFill>
            <a:prstDash val="lg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57200" y="2322576"/>
            <a:ext cx="530352" cy="530352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" y="23225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70432" y="2267712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this season's game CSV — the schedule is live in minutes.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67512" y="2871216"/>
            <a:ext cx="0" cy="201168"/>
          </a:xfrm>
          <a:prstGeom prst="line">
            <a:avLst/>
          </a:prstGeom>
          <a:noFill/>
          <a:ln w="19050">
            <a:solidFill>
              <a:srgbClr val="8DC63F"/>
            </a:solidFill>
            <a:prstDash val="lg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7200" y="3163824"/>
            <a:ext cx="530352" cy="530352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7200" y="3163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70432" y="310896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workers, set roles and availability, and run Auto-Schedule.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67512" y="3712464"/>
            <a:ext cx="0" cy="201168"/>
          </a:xfrm>
          <a:prstGeom prst="line">
            <a:avLst/>
          </a:prstGeom>
          <a:noFill/>
          <a:ln w="19050">
            <a:solidFill>
              <a:srgbClr val="8DC63F"/>
            </a:solidFill>
            <a:prstDash val="lg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57200" y="4005072"/>
            <a:ext cx="530352" cy="530352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57200" y="40050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70432" y="395020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first week — workers receive notifications and calendar links automatically.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1828800" y="4663440"/>
            <a:ext cx="5486400" cy="329184"/>
          </a:xfrm>
          <a:prstGeom prst="roundRect">
            <a:avLst>
              <a:gd name="adj" fmla="val 27778"/>
            </a:avLst>
          </a:prstGeom>
          <a:solidFill>
            <a:srgbClr val="8DC63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828800" y="46634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FieldSync — Purpose-built for your league. Zero recurring cost.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3820</TotalTime>
  <Words>885</Words>
  <Application>Microsoft Macintosh PowerPoint</Application>
  <PresentationFormat>On-screen Show (16:9)</PresentationFormat>
  <Paragraphs>134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FieldSync — Workforce &amp; Schedule Management</dc:title>
  <dc:subject>PptxGenJS Presentation</dc:subject>
  <dc:creator>FieldSync</dc:creator>
  <cp:lastModifiedBy>Aidan Charles Garver</cp:lastModifiedBy>
  <cp:revision>2</cp:revision>
  <dcterms:created xsi:type="dcterms:W3CDTF">2026-06-21T21:42:28Z</dcterms:created>
  <dcterms:modified xsi:type="dcterms:W3CDTF">2026-06-24T13:24:28Z</dcterms:modified>
</cp:coreProperties>
</file>